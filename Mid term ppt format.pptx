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ink/ink1.xml" ContentType="application/inkml+xml"/>
  <Override PartName="/ppt/ink/ink2.xml" ContentType="application/inkml+xml"/>
  <Override PartName="/ppt/ink/ink3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497" r:id="rId3"/>
    <p:sldId id="499" r:id="rId4"/>
    <p:sldId id="500" r:id="rId5"/>
    <p:sldId id="501" r:id="rId6"/>
    <p:sldId id="512" r:id="rId7"/>
    <p:sldId id="513" r:id="rId8"/>
    <p:sldId id="505" r:id="rId9"/>
    <p:sldId id="503" r:id="rId10"/>
    <p:sldId id="508" r:id="rId11"/>
    <p:sldId id="507" r:id="rId12"/>
    <p:sldId id="514" r:id="rId13"/>
    <p:sldId id="504" r:id="rId14"/>
    <p:sldId id="502" r:id="rId15"/>
    <p:sldId id="506" r:id="rId16"/>
    <p:sldId id="269" r:id="rId17"/>
  </p:sldIdLst>
  <p:sldSz cx="9144000" cy="6858000" type="screen4x3"/>
  <p:notesSz cx="6761163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0AA"/>
    <a:srgbClr val="0066B3"/>
    <a:srgbClr val="E31E24"/>
    <a:srgbClr val="006CB4"/>
    <a:srgbClr val="E8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393" autoAdjust="0"/>
    <p:restoredTop sz="94681"/>
  </p:normalViewPr>
  <p:slideViewPr>
    <p:cSldViewPr>
      <p:cViewPr varScale="1">
        <p:scale>
          <a:sx n="83" d="100"/>
          <a:sy n="83" d="100"/>
        </p:scale>
        <p:origin x="893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0T15:49:54.47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299 638 24575,'1'-13'0,"2"1"0,-1-1 0,2 1 0,0-1 0,0 1 0,1 0 0,0 0 0,1 1 0,12-18 0,-7 10 0,15-34 0,-25 51 0,-1 0 0,1 0 0,-1 1 0,1-1 0,-1 0 0,1 0 0,-1 0 0,0 0 0,0 0 0,0 0 0,-1-3 0,1 4 0,0 1 0,0-1 0,0 1 0,-1-1 0,1 1 0,0-1 0,-1 0 0,1 1 0,0-1 0,-1 1 0,1 0 0,-1-1 0,1 1 0,0-1 0,-1 1 0,0 0 0,1-1 0,-1 1 0,1 0 0,-1-1 0,1 1 0,-1 0 0,-1-1 0,0 1 0,-1 0 0,0 0 0,1 0 0,-1 1 0,0-1 0,1 1 0,-1-1 0,0 1 0,1 0 0,-1 0 0,1 0 0,-1 0 0,1 0 0,-4 3 0,-22 16 0,-46 41 0,-9 7 0,-17 16 0,87-77 0,6-10 0,7 1 0,-1 1 0,1 0 0,0 0 0,0 0 0,0-1 0,0 1 0,0 0 0,1 0 0,-1 0 0,0 0 0,0-1 0,1 1 0,-1 0 0,1 0 0,-1 0 0,1 0 0,-1 0 0,1 0 0,1-1 0,17-28 0,0 0 0,-2-1 0,-2-1 0,14-39 0,-27 67 0,-1-1 0,0 1 0,0-1 0,0 1 0,0-1 0,-1 0 0,0 1 0,0-9 0,0 11 0,-1 0 0,1 0 0,-1 1 0,0-1 0,0 0 0,1 1 0,-1-1 0,0 0 0,0 1 0,-1-1 0,1 1 0,0 0 0,0-1 0,-1 1 0,1 0 0,-1 0 0,1 0 0,-1 0 0,1 0 0,-1 0 0,0 0 0,1 0 0,-1 1 0,-2-2 0,1 2 0,0-1 0,1-1 0,-1 1 0,1 0 0,-1-1 0,1 1 0,0-1 0,0 0 0,0 0 0,0 0 0,0 0 0,0 0 0,0 0 0,1 0 0,-1-1 0,1 1 0,-3-5 0,2 3 0,0 0 0,0 0 0,-1 1 0,1 0 0,-1-1 0,-5-4 0,-15-3 0,21 11 0,1 0 0,0-1 0,0 1 0,0 0 0,-1-1 0,1 1 0,0-1 0,0 1 0,0-1 0,0 1 0,0-1 0,0 0 0,0 1 0,0-1 0,0 0 0,0 0 0,0 0 0,1 0 0,-1 0 0,0 0 0,0 0 0,1 0 0,-1 0 0,1 0 0,-1 0 0,1 0 0,0-1 0,-1 1 0,1 0 0,0 0 0,0 0 0,0-3 0,-1 0 0,0 1 0,1-1 0,0 0 0,0 0 0,0 0 0,1 1 0,-1-1 0,1 0 0,0 0 0,0 1 0,0-1 0,0 1 0,1-1 0,-1 1 0,1-1 0,0 1 0,0 0 0,0 0 0,1 0 0,-1 0 0,1 0 0,0 0 0,-1 1 0,1-1 0,0 1 0,0 0 0,1 0 0,-1 0 0,0 0 0,1 1 0,-1-1 0,1 1 0,0 0 0,-1 0 0,1 0 0,0 1 0,0-1 0,-1 1 0,1 0 0,0 0 0,0 0 0,0 0 0,-1 1 0,8 1 0,4 4 0,0 0 0,0 1 0,-1 0 0,25 17 0,13 7 0,-36-22 0,0-2 0,0 0 0,1-1 0,0-1 0,0-1 0,27 4 0,-39-7 0,0 0 0,0-1 0,0 0 0,-1 0 0,1 0 0,0-1 0,0 0 0,0 0 0,-1 0 0,1 0 0,0-1 0,-1 1 0,1-1 0,-1 0 0,0-1 0,1 1 0,-1-1 0,0 0 0,-1 0 0,1 0 0,0 0 0,-1-1 0,0 0 0,0 1 0,0-1 0,0 0 0,-1-1 0,4-5 0,2-15 0,-5 15 0,1 0 0,-1 0 0,2 0 0,7-13 0,-11 22 0,-1 0 0,1-1 0,0 1 0,0 0 0,0 0 0,-1 0 0,1 0 0,1 0 0,-1 0 0,0 0 0,0 1 0,0-1 0,0 0 0,0 1 0,1-1 0,-1 0 0,0 1 0,1 0 0,-1-1 0,0 1 0,1 0 0,-1-1 0,0 1 0,1 0 0,-1 0 0,1 0 0,-1 0 0,0 1 0,1-1 0,-1 0 0,1 1 0,-1-1 0,0 0 0,0 1 0,1 0 0,-1-1 0,0 1 0,0 0 0,2 1 0,2 3 0,-1-1 0,-1 1 0,1 0 0,-1 1 0,0-1 0,0 0 0,0 1 0,-1 0 0,1-1 0,-2 1 0,1 0 0,1 7 0,10 26 0,-9-31 0,1 0 0,0 0 0,0-1 0,1 0 0,0 0 0,1 0 0,-1 0 0,1-1 0,1-1 0,-1 1 0,1-1 0,12 7 0,-7-6 0,-1 0 0,1-1 0,0 0 0,0-1 0,0-1 0,1 0 0,24 2 0,-34-5 0,0 0 0,0 0 0,0-1 0,0 0 0,0 0 0,-1 0 0,1 0 0,0 0 0,0-1 0,-1 0 0,1 0 0,-1 0 0,5-3 0,43-41 0,-9 8 0,9 4 0,2 3 0,1 2 0,66-25 0,-98 46 0,1 2 0,0 1 0,0 0 0,0 2 0,43-1 0,26-3 0,-55 3 0,37 2 0,11-1 0,-73 0 0,-15-2 0,-21-2 0,-2 3 0,0 2 0,-1 1 0,1 1 0,0 1 0,0 1 0,0 2 0,0 0 0,1 2 0,-1 0 0,1 2 0,-41 19 0,61-24 0,-1 0 0,1-1 0,-1 1 0,0-1 0,0 0 0,0-1 0,-1 0 0,1 0 0,0 0 0,0-1 0,0 1 0,-1-2 0,1 1 0,0-1 0,0 0 0,-1 0 0,1 0 0,0-1 0,0 0 0,0 0 0,1-1 0,-1 1 0,1-1 0,-1-1 0,1 1 0,0-1 0,-7-6 0,5 4 0,0 0 0,-1 0 0,0 0 0,0 1 0,0 0 0,-1 1 0,0 0 0,1 0 0,-2 1 0,1 0 0,0 0 0,-1 1 0,1 0 0,-1 1 0,1 0 0,-16 1 0,2 1 0,1 0 0,0 2 0,0 0 0,0 1 0,-35 13 0,32-9 0,17-6 0,-1 0 0,0 1 0,1 0 0,0 1 0,0-1 0,0 2 0,0-1 0,0 1 0,1 0 0,0 1 0,0 0 0,-9 10 0,-2 9 0,1 1 0,1 0 0,1 2 0,-21 53 0,-129 245 0,132-268 0,-71 116 0,88-149 0,15-23 0,-1-1 0,1 1 0,0 0 0,0 0 0,0 0 0,0 0 0,1 0 0,-1 1 0,0-1 0,1 0 0,-1 0 0,1 0 0,0 1 0,0-1 0,0 0 0,0 3 0,1-4 0,-1-1 0,0 1 0,0 0 0,1-1 0,-1 1 0,0-1 0,1 1 0,-1-1 0,0 0 0,1 1 0,-1-1 0,1 1 0,-1-1 0,1 0 0,-1 1 0,1-1 0,-1 0 0,1 1 0,0-1 0,-1 0 0,2 1 0,21-3 0,-11-2 0,0-1 0,0 0 0,-1-1 0,0 0 0,0 0 0,0-1 0,18-17 0,61-66 0,-65 58 0,-2 0 0,-1-2 0,23-46 0,10-16 0,-16 26 0,-26 45 0,1 1 0,27-37 0,-39 58 0,1 0 0,-1 1 0,0-1 0,1 1 0,-1 0 0,1-1 0,0 1 0,0 1 0,0-1 0,0 0 0,0 1 0,0-1 0,0 1 0,1 0 0,-1 0 0,0 1 0,1-1 0,-1 0 0,0 1 0,1 0 0,-1 0 0,1 0 0,-1 0 0,0 1 0,1-1 0,-1 1 0,1 0 0,-1 0 0,0 0 0,0 0 0,0 1 0,0-1 0,0 1 0,0 0 0,0 0 0,0 0 0,0 0 0,-1 0 0,1 1 0,-1-1 0,0 1 0,0 0 0,0-1 0,0 1 0,0 0 0,-1 0 0,1 0 0,-1 1 0,0-1 0,1 0 0,0 7 0,1 35 0,-1 1 0,-8 77 0,5-120 0,0 10 0,-1 1 0,-1-1 0,0 0 0,-1 0 0,0-1 0,-1 1 0,0-1 0,-1 0 0,0 0 0,-1-1 0,-12 15 0,13-17 0,1-1 0,0 0 0,1 1 0,0 0 0,0 0 0,1 1 0,0-1 0,1 1 0,0-1 0,-2 18 0,4-27 0,0 0 0,0 0 0,0 0 0,0 1 0,0-1 0,0 0 0,0 0 0,0 0 0,0 0 0,0 0 0,0 0 0,0 0 0,0 1 0,0-1 0,0 0 0,0 0 0,0 0 0,0 0 0,0 0 0,0 0 0,0 0 0,0 0 0,0 1 0,0-1 0,0 0 0,0 0 0,0 0 0,0 0 0,0 0 0,0 0 0,0 0 0,1 0 0,-1 0 0,0 1 0,0-1 0,0 0 0,0 0 0,0 0 0,0 0 0,0 0 0,0 0 0,0 0 0,1 0 0,-1 0 0,0 0 0,0 0 0,0 0 0,0 0 0,0 0 0,0 0 0,0 0 0,1 0 0,-1 0 0,0 0 0,0 0 0,0 0 0,0 0 0,0 0 0,0 0 0,0 0 0,0 0 0,1 0 0,-1 0 0,7-9 0,7-14 0,41-109 0,31-60 0,-60 137 0,10-19 0,-31 66 0,-1 1 0,1 0 0,0 0 0,1 0 0,0 1 0,12-11 0,-18 16 0,1 0 0,0 0 0,0 1 0,-1-1 0,1 1 0,0-1 0,0 1 0,0-1 0,0 1 0,0-1 0,0 1 0,0 0 0,0 0 0,0-1 0,0 1 0,0 0 0,0 0 0,0 0 0,0 0 0,0 0 0,0 0 0,0 0 0,0 1 0,0-1 0,0 0 0,0 1 0,0-1 0,0 0 0,0 1 0,1 0 0,0 1 0,0 0 0,0 0 0,0 1 0,-1-1 0,1 0 0,-1 1 0,1-1 0,-1 1 0,0-1 0,0 1 0,1 3 0,2 9 0,0 0 0,2 31 0,-3 36 0,-15 161 0,1-81 0,14-131 0,1-27 0,1-19 0,4-49 0,-6 43 0,0-1 0,1 0 0,1 1 0,0 0 0,2 0 0,1 1 0,11-23 0,-3 18 0,1 0 0,39-44 0,-46 56 0,-6 9 0,-1-1 0,1 1 0,0-1 0,0 1 0,0 0 0,6-4 0,-9 8 0,0-1 0,0 1 0,0 0 0,0-1 0,0 1 0,0 0 0,0 0 0,0-1 0,0 1 0,0 0 0,0 0 0,0 0 0,0 0 0,0 1 0,0-1 0,0 0 0,0 0 0,0 1 0,0-1 0,0 0 0,0 1 0,0-1 0,0 1 0,0-1 0,0 1 0,-1-1 0,1 1 0,0 0 0,0 0 0,-1-1 0,1 1 0,0 0 0,-1 0 0,1 0 0,-1 0 0,1-1 0,-1 1 0,1 0 0,-1 0 0,0 0 0,1 2 0,6 19 0,0-1 0,-2 2 0,0-1 0,-1 0 0,0 43 0,-3 54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0T15:54:58.64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24575,'50'2'0,"58"11"0,47 1 0,-132-12 0,0 0 0,31 8 0,-30-5 0,48 4 0,-32-6 0,41 8 0,-43-5 0,57 2 0,-85-7 0,1-1 0,-1-1 0,1 0 0,-1 0 0,1-1 0,-1 0 0,0-1 0,0 0 0,0-1 0,17-8 0,-13 5 0,-1 2 0,1 0 0,1 0 0,-1 1 0,1 1 0,-1 1 0,1 0 0,0 1 0,0 0 0,26 3 0,-13 1 0,0 1 0,-1 1 0,1 2 0,45 17 0,-40-14 291,-25-8-622,0 1 0,0-1-1,0 2 1,10 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0T15:54:58.64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24575,'50'2'0,"58"11"0,47 1 0,-132-12 0,0 0 0,31 8 0,-30-5 0,48 4 0,-32-6 0,41 8 0,-43-5 0,57 2 0,-85-7 0,1-1 0,-1-1 0,1 0 0,-1 0 0,1-1 0,-1 0 0,0-1 0,0 0 0,0-1 0,17-8 0,-13 5 0,-1 2 0,1 0 0,1 0 0,-1 1 0,1 1 0,-1 1 0,1 0 0,0 1 0,0 0 0,26 3 0,-13 1 0,0 1 0,-1 1 0,1 2 0,45 17 0,-40-14 291,-25-8-622,0 1 0,0-1-1,0 2 1,10 4 0</inkml:trace>
</inkml:ink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68431-CD35-4516-818D-B41B2C4843CF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949B3-C4AB-4FB2-8B24-B07A558BD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534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600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66966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0468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193BE92-2836-2377-AC03-A2DE9BD92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49BC9794-528F-622F-43DD-4480761AC2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030C919C-92B7-D9DB-548B-F07A4AA3A2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13746616-91E6-EEB7-1856-D004D3BB5C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65271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12EE8AE-6B96-A0B7-5B01-1E66F7091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196B1102-F4C9-B3F6-1EBC-67E21A0E1F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48509EEB-322A-5BF0-4BAB-89D92C041C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160D25FF-334B-A586-E002-BDB8BEB75D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34716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15464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96401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CAA661C-EE8E-4550-79FC-6D2DE6283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08A3BE65-ABC2-C31E-F7BF-5074E255AA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E1E0FA71-42DC-F866-0B0B-A1E7E3AEB7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4A24EB81-AFC1-22F2-9431-A4C105BD9B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39383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5EA6B61-674B-0ABF-F5C3-A72BF2845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F22FBED0-DE41-A040-921A-D95B51852C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6BB3F754-664A-ECDE-8199-65800D9763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CAF3E54-5ADF-52CC-11B5-B7F7837DEE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71296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B03C315-2F31-0964-567A-7316CBA1C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BAFFF20B-31C2-4485-B341-8D4BE37D5E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61E42BF9-76F7-7E12-CA6C-411D0EA633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83E48A72-B066-3B79-5AF6-739496354C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78757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60504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7544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6910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617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195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717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185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301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240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787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679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846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55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3898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A89A1-F17A-4D3D-AC08-D16056C16514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759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customXml" Target="../ink/ink1.xml"/><Relationship Id="rId7" Type="http://schemas.openxmlformats.org/officeDocument/2006/relationships/image" Target="../media/image6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customXml" Target="../ink/ink2.xml"/><Relationship Id="rId7" Type="http://schemas.openxmlformats.org/officeDocument/2006/relationships/image" Target="../media/image1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customXml" Target="../ink/ink3.xml"/><Relationship Id="rId6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PT Admission Drive 2021-22-final-2_Page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0383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260" y="-27384"/>
            <a:ext cx="9180512" cy="6885384"/>
          </a:xfrm>
        </p:spPr>
      </p:pic>
      <p:cxnSp>
        <p:nvCxnSpPr>
          <p:cNvPr id="11" name="Straight Connector 10"/>
          <p:cNvCxnSpPr/>
          <p:nvPr/>
        </p:nvCxnSpPr>
        <p:spPr>
          <a:xfrm>
            <a:off x="1565174" y="2204864"/>
            <a:ext cx="63065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382" y="150274"/>
            <a:ext cx="6396065" cy="9208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22061" y="2367609"/>
            <a:ext cx="87849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SzPct val="25000"/>
            </a:pPr>
            <a:r>
              <a:rPr lang="en-IN" sz="2400" b="1" dirty="0" smtClean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Pre-</a:t>
            </a:r>
            <a:r>
              <a:rPr lang="en-IN" sz="2400" b="1" dirty="0" smtClean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Final </a:t>
            </a: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Year Project Progress</a:t>
            </a:r>
          </a:p>
          <a:p>
            <a:pPr lvl="0" algn="ctr">
              <a:buSzPct val="25000"/>
            </a:pP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Submitted by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xmlns="" id="{232DFD41-0025-28B4-FE3B-A54FAEE28F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8442984"/>
              </p:ext>
            </p:extLst>
          </p:nvPr>
        </p:nvGraphicFramePr>
        <p:xfrm>
          <a:off x="1670447" y="3505366"/>
          <a:ext cx="6096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xmlns="" val="353727046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xmlns="" val="330502494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dirty="0" sz="1400">
                          <a:solidFill>
                            <a:srgbClr val="003366"/>
                          </a:solidFill>
                        </a:rPr>
                        <a:t>ROLL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z="1400">
                          <a:solidFill>
                            <a:srgbClr val="003366"/>
                          </a:solidFill>
                        </a:rPr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76589833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3366"/>
                          </a:solidFill>
                        </a:rPr>
                        <a:t>22SOECE11XXX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3366"/>
                          </a:solidFill>
                        </a:rPr>
                        <a:t>Student Name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417610186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3366"/>
                          </a:solidFill>
                        </a:rPr>
                        <a:t>22SOECE11XXX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3366"/>
                          </a:solidFill>
                        </a:rPr>
                        <a:t>Student Name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95820632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3DF18845-4075-32C5-8F4A-4F40F86E837F}"/>
              </a:ext>
            </a:extLst>
          </p:cNvPr>
          <p:cNvSpPr txBox="1"/>
          <p:nvPr/>
        </p:nvSpPr>
        <p:spPr>
          <a:xfrm>
            <a:off x="1414310" y="1372508"/>
            <a:ext cx="660827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buSzPct val="25000"/>
            </a:pPr>
            <a:r>
              <a:rPr lang="en-IN" sz="4000" b="1" dirty="0">
                <a:solidFill>
                  <a:srgbClr val="C0000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LLM-Based Knowledge Retrieval System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40D4C745-33B7-0116-E20F-11A7F0DFD46F}"/>
              </a:ext>
            </a:extLst>
          </p:cNvPr>
          <p:cNvSpPr txBox="1"/>
          <p:nvPr/>
        </p:nvSpPr>
        <p:spPr>
          <a:xfrm>
            <a:off x="236440" y="5733256"/>
            <a:ext cx="85840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SzPct val="25000"/>
            </a:pPr>
            <a:r>
              <a:rPr b="1" sz="1800">
                <a:solidFill>
                  <a:srgbClr val="0070C0"/>
                </a:solidFill>
              </a:rPr>
              <a:t>Industry Mentor: Mr./Ms. Mentor Name</a:t>
            </a:r>
          </a:p>
          <a:p>
            <a:pPr lvl="0">
              <a:buSzPct val="25000"/>
            </a:pPr>
            <a:r>
              <a:rPr b="1" sz="1800">
                <a:solidFill>
                  <a:srgbClr val="0070C0"/>
                </a:solidFill>
              </a:rPr>
              <a:t>Faculty Mentor: Dr./Prof. Faculty Name</a:t>
            </a:r>
            <a:endParaRPr lang="en-IN" sz="1800" b="1" dirty="0">
              <a:solidFill>
                <a:srgbClr val="0070C0"/>
              </a:solidFill>
              <a:ea typeface="Cambria" panose="020405030504060302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42536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15370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50000" y="1200000"/>
            <a:ext cx="87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00000"/>
                </a:solidFill>
              </a:rPr>
              <a:t>Problem Statement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600" b="0">
                <a:solidFill>
                  <a:srgbClr val="333333"/>
                </a:solidFill>
              </a:rPr>
              <a:t>University students struggle to find accurate information scattered across dozens of policy documents, rulebooks, brochures, and PDFs.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600" b="0">
                <a:solidFill>
                  <a:srgbClr val="333333"/>
                </a:solidFill>
              </a:rPr>
              <a:t>Manual searching is time-consuming and often leads to outdated or incorrect answers.</a:t>
            </a:r>
          </a:p>
          <a:p>
            <a:pPr algn="l"/>
            <a:r>
              <a:rPr sz="800" b="0">
                <a:solidFill>
                  <a:srgbClr val="333333"/>
                </a:solidFill>
              </a:rPr>
              <a:t/>
            </a:r>
          </a:p>
          <a:p>
            <a:pPr algn="l"/>
            <a:r>
              <a:rPr sz="2000" b="1">
                <a:solidFill>
                  <a:srgbClr val="C00000"/>
                </a:solidFill>
              </a:rPr>
              <a:t>Our Solution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600" b="0">
                <a:solidFill>
                  <a:srgbClr val="333333"/>
                </a:solidFill>
              </a:rPr>
              <a:t>An AI-powered chatbot ("KRMAI") that uses Retrieval-Augmented Generation (RAG) to answer student queries from official university documents.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600" b="0">
                <a:solidFill>
                  <a:srgbClr val="333333"/>
                </a:solidFill>
              </a:rPr>
              <a:t>Runs entirely offline with no external API dependencies — ensuring complete data privacy.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600" b="0">
                <a:solidFill>
                  <a:srgbClr val="333333"/>
                </a:solidFill>
              </a:rPr>
              <a:t>Supports Hindi, Hinglish, and English with built-in slang recognition for natural student interaction.</a:t>
            </a:r>
          </a:p>
          <a:p>
            <a:pPr algn="l"/>
            <a:r>
              <a:rPr sz="800" b="0">
                <a:solidFill>
                  <a:srgbClr val="333333"/>
                </a:solidFill>
              </a:rPr>
              <a:t/>
            </a:r>
          </a:p>
          <a:p>
            <a:pPr algn="l"/>
            <a:r>
              <a:rPr sz="2000" b="1">
                <a:solidFill>
                  <a:srgbClr val="C00000"/>
                </a:solidFill>
              </a:rPr>
              <a:t>Target Users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600" b="0">
                <a:solidFill>
                  <a:srgbClr val="333333"/>
                </a:solidFill>
              </a:rPr>
              <a:t>Students, faculty, and administrative staff at KR Mangalam University, Gurugram.</a:t>
            </a:r>
          </a:p>
        </p:txBody>
      </p:sp>
    </p:spTree>
    <p:extLst>
      <p:ext uri="{BB962C8B-B14F-4D97-AF65-F5344CB8AC3E}">
        <p14:creationId xmlns:p14="http://schemas.microsoft.com/office/powerpoint/2010/main" val="3353784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54323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Specific Objectives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AE24D516-77C6-C96A-5F77-D099623448D8}"/>
              </a:ext>
            </a:extLst>
          </p:cNvPr>
          <p:cNvSpPr txBox="1"/>
          <p:nvPr/>
        </p:nvSpPr>
        <p:spPr>
          <a:xfrm>
            <a:off x="250000" y="1200000"/>
            <a:ext cx="87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 fontAlgn="base">
              <a:lnSpc>
                <a:spcPct val="107000"/>
              </a:lnSpc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333333"/>
                </a:solidFill>
              </a:rPr>
              <a:t>1.  Build a fully offline, privacy-first AI chatbot that requires no external APIs or cloud services.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333333"/>
                </a:solidFill>
              </a:rPr>
              <a:t>2.  Implement a RAG pipeline to retrieve and ground answers strictly from official university documents.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333333"/>
                </a:solidFill>
              </a:rPr>
              <a:t>3.  Develop a modern, responsive web interface for seamless student interaction.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333333"/>
                </a:solidFill>
              </a:rPr>
              <a:t>4.  Support multi-format document ingestion (PDF, DOCX, TXT) for comprehensive knowledge coverage.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333333"/>
                </a:solidFill>
              </a:rPr>
              <a:t>5.  Integrate slang and abbreviation preprocessing (35+ patterns) to handle informal student queries.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333333"/>
                </a:solidFill>
              </a:rPr>
              <a:t>6.  Maintain conversation context across multiple turns for follow-up questions.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333333"/>
                </a:solidFill>
              </a:rPr>
              <a:t>7.  Provide verifiable source citations with every answer to ensure trustworthiness.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333333"/>
                </a:solidFill>
              </a:rPr>
              <a:t>8.  Enable multi-language responses (English, Hindi, Hinglish) based on query language.</a:t>
            </a:r>
          </a:p>
        </p:txBody>
      </p:sp>
    </p:spTree>
    <p:extLst>
      <p:ext uri="{BB962C8B-B14F-4D97-AF65-F5344CB8AC3E}">
        <p14:creationId xmlns:p14="http://schemas.microsoft.com/office/powerpoint/2010/main" val="1047329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AE24D516-77C6-C96A-5F77-D099623448D8}"/>
              </a:ext>
            </a:extLst>
          </p:cNvPr>
          <p:cNvSpPr txBox="1"/>
          <p:nvPr/>
        </p:nvSpPr>
        <p:spPr>
          <a:xfrm>
            <a:off x="250000" y="1200000"/>
            <a:ext cx="87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 fontAlgn="base">
              <a:lnSpc>
                <a:spcPct val="107000"/>
              </a:lnSpc>
              <a:spcBef>
                <a:spcPts val="400"/>
              </a:spcBef>
              <a:spcAft>
                <a:spcPts val="200"/>
              </a:spcAft>
            </a:pPr>
            <a:r>
              <a:rPr sz="1600" b="1">
                <a:solidFill>
                  <a:srgbClr val="0060AA"/>
                </a:solidFill>
              </a:rPr>
              <a:t>RAG-Based Q&amp;A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 lvl="1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444444"/>
                </a:solidFill>
              </a:rPr>
              <a:t>Retrieves top-3 relevant document chunks and generates grounded answers using a local LLM (LLaMA 3.2).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600" b="1">
                <a:solidFill>
                  <a:srgbClr val="0060AA"/>
                </a:solidFill>
              </a:rPr>
              <a:t>Fully Offline Architecture</a:t>
            </a:r>
          </a:p>
          <a:p>
            <a:pPr algn="l" lvl="1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444444"/>
                </a:solidFill>
              </a:rPr>
              <a:t>Runs entirely on local hardware — Ollama for LLM inference, ChromaDB for vector storage, HuggingFace embeddings cached locally.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600" b="1">
                <a:solidFill>
                  <a:srgbClr val="0060AA"/>
                </a:solidFill>
              </a:rPr>
              <a:t>Smart Slang Preprocessing</a:t>
            </a:r>
          </a:p>
          <a:p>
            <a:pPr algn="l" lvl="1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444444"/>
                </a:solidFill>
              </a:rPr>
              <a:t>35+ regex patterns expand student slang ("idk", "cgpa", "kt", etc.) before retrieval for improved accuracy.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600" b="1">
                <a:solidFill>
                  <a:srgbClr val="0060AA"/>
                </a:solidFill>
              </a:rPr>
              <a:t>Source Citations</a:t>
            </a:r>
          </a:p>
          <a:p>
            <a:pPr algn="l" lvl="1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444444"/>
                </a:solidFill>
              </a:rPr>
              <a:t>Every response includes the source document file names, displayed as styled badges in the UI.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600" b="1">
                <a:solidFill>
                  <a:srgbClr val="0060AA"/>
                </a:solidFill>
              </a:rPr>
              <a:t>Conversation Memory</a:t>
            </a:r>
          </a:p>
          <a:p>
            <a:pPr algn="l" lvl="1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444444"/>
                </a:solidFill>
              </a:rPr>
              <a:t>Maintains last 6 messages (3 Q&amp;A pairs) for contextual follow-up questions.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600" b="1">
                <a:solidFill>
                  <a:srgbClr val="0060AA"/>
                </a:solidFill>
              </a:rPr>
              <a:t>Modern React UI</a:t>
            </a:r>
          </a:p>
          <a:p>
            <a:pPr algn="l" lvl="1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444444"/>
                </a:solidFill>
              </a:rPr>
              <a:t>Dark-themed interface with animations (Framer Motion), Markdown rendering, copy-to-clipboard, and feedback buttons.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600" b="1">
                <a:solidFill>
                  <a:srgbClr val="0060AA"/>
                </a:solidFill>
              </a:rPr>
              <a:t>Chat Session Management</a:t>
            </a:r>
          </a:p>
          <a:p>
            <a:pPr algn="l" lvl="1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444444"/>
                </a:solidFill>
              </a:rPr>
              <a:t>Create, save, load, and delete up to 20 chat sessions via localStorage.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600" b="1">
                <a:solidFill>
                  <a:srgbClr val="0060AA"/>
                </a:solidFill>
              </a:rPr>
              <a:t>Multi-Language Support</a:t>
            </a:r>
          </a:p>
          <a:p>
            <a:pPr algn="l" lvl="1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444444"/>
                </a:solidFill>
              </a:rPr>
              <a:t>Responds in Hindi, Hinglish, or English matching the user's query language.</a:t>
            </a:r>
          </a:p>
        </p:txBody>
      </p:sp>
    </p:spTree>
    <p:extLst>
      <p:ext uri="{BB962C8B-B14F-4D97-AF65-F5344CB8AC3E}">
        <p14:creationId xmlns:p14="http://schemas.microsoft.com/office/powerpoint/2010/main" val="957423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0B33F2B-4274-D144-7093-B867F4CB3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xmlns="" id="{A9527858-67DE-3DF8-FF01-8DB1846AEB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xmlns="" id="{D2CBC630-DA86-8B5C-8CF1-BBD133225A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244288"/>
            <a:ext cx="568863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latin typeface="Verdana" panose="020B0604030504040204" pitchFamily="34" charset="0"/>
                <a:cs typeface="Times New Roman" panose="02020603050405020304" pitchFamily="18" charset="0"/>
                <a:sym typeface="Arial"/>
              </a:rPr>
              <a:t>Progress Summary</a:t>
            </a:r>
            <a:endParaRPr lang="en-IN" sz="3200" b="1" dirty="0"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4FB5C432-E63F-6355-19A5-32B65372F4DD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A6D3DC83-45E5-89A4-957B-69C5B506322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2E6412DA-6D17-40E5-6A15-8B5AF801558C}"/>
              </a:ext>
            </a:extLst>
          </p:cNvPr>
          <p:cNvSpPr txBox="1"/>
          <p:nvPr/>
        </p:nvSpPr>
        <p:spPr>
          <a:xfrm>
            <a:off x="250000" y="1200000"/>
            <a:ext cx="87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8000"/>
                </a:solidFill>
              </a:rPr>
              <a:t>Completed Milestones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226622"/>
                </a:solidFill>
              </a:rPr>
              <a:t>✓  Research and selection of RAG architecture, LLM model, and vector database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226622"/>
                </a:solidFill>
              </a:rPr>
              <a:t>✓  Document ingestion pipeline — supports PDF, DOCX, and TXT formats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226622"/>
                </a:solidFill>
              </a:rPr>
              <a:t>✓  ChromaDB vector store setup with persistent local storage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226622"/>
                </a:solidFill>
              </a:rPr>
              <a:t>✓  RAG engine with LangChain LCEL chain — query processing, retrieval, and generation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226622"/>
                </a:solidFill>
              </a:rPr>
              <a:t>✓  Slang/abbreviation preprocessing module (35+ patterns)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226622"/>
                </a:solidFill>
              </a:rPr>
              <a:t>✓  FastAPI REST backend with /chat and /health endpoints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226622"/>
                </a:solidFill>
              </a:rPr>
              <a:t>✓  React frontend with dark theme, animations, Markdown rendering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226622"/>
                </a:solidFill>
              </a:rPr>
              <a:t>✓  Chat session management (create, save, load, delete sessions)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226622"/>
                </a:solidFill>
              </a:rPr>
              <a:t>✓  Source citation display with styled badges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226622"/>
                </a:solidFill>
              </a:rPr>
              <a:t>✓  Streamlit backup UI for fallback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226622"/>
                </a:solidFill>
              </a:rPr>
              <a:t>✓  startup script (start.sh) for one-click deployment</a:t>
            </a:r>
          </a:p>
          <a:p>
            <a:pPr algn="l"/>
            <a:r>
              <a:rPr sz="600" b="0">
                <a:solidFill>
                  <a:srgbClr val="333333"/>
                </a:solidFill>
              </a:rPr>
              <a:t/>
            </a:r>
          </a:p>
          <a:p>
            <a:pPr algn="l"/>
            <a:r>
              <a:rPr sz="1800" b="1">
                <a:solidFill>
                  <a:srgbClr val="0070C0"/>
                </a:solidFill>
              </a:rPr>
              <a:t>Overall Progress: ~75% Complete</a:t>
            </a:r>
          </a:p>
        </p:txBody>
      </p:sp>
    </p:spTree>
    <p:extLst>
      <p:ext uri="{BB962C8B-B14F-4D97-AF65-F5344CB8AC3E}">
        <p14:creationId xmlns:p14="http://schemas.microsoft.com/office/powerpoint/2010/main" val="1305621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175C45B-C9D0-DBF5-811F-0F08DB7B9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xmlns="" id="{ACCAFCE0-31E7-9CED-BEF6-9C94A97D7C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xmlns="" id="{EC8D1C93-2569-153C-C90B-6D82C35C19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377423"/>
            <a:ext cx="896448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kern="100" dirty="0">
                <a:latin typeface="Verdana" panose="020B0604030504040204" pitchFamily="34" charset="0"/>
                <a:cs typeface="Times New Roman" panose="02020603050405020304" pitchFamily="18" charset="0"/>
                <a:sym typeface="Arial"/>
              </a:rPr>
              <a:t>Detailed Progress – Development Phase</a:t>
            </a:r>
            <a:endParaRPr lang="en-IN" sz="2800" b="1" dirty="0"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D6161CDA-82E4-E4CE-AB8A-F7E4594878E9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BFB65409-50C0-1C48-4C06-AA7695D3A29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50000" y="1200000"/>
            <a:ext cx="8700000" cy="5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60AA"/>
                </a:solidFill>
              </a:rPr>
              <a:t>Phase 1: Research &amp; Planning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</a:rPr>
              <a:t>•  Evaluated LLM options: GPT-4, Gemini, LLaMA — chose LLaMA 3.2 (3B) for fully offline operation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</a:rPr>
              <a:t>•  Compared vector databases: Pinecone, Weaviate, ChromaDB — chose ChromaDB for simplicity and local persistence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</a:rPr>
              <a:t>•  Selected sentence-transformers/all-MiniLM-L6-v2 (384-dim) for fast, accurate embeddings</a:t>
            </a:r>
          </a:p>
          <a:p>
            <a:pPr algn="l"/>
            <a:r>
              <a:rPr sz="1600" b="1">
                <a:solidFill>
                  <a:srgbClr val="0060AA"/>
                </a:solidFill>
              </a:rPr>
              <a:t>Phase 2: Backend Development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</a:rPr>
              <a:t>•  Built document ingestion pipeline (ingest.py) with RecursiveCharacterTextSplitter (1000 chars, 200 overlap)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</a:rPr>
              <a:t>•  Implemented RAG engine (rag_engine.py) with LangChain LCEL chain — retrieval, prompt construction, LLM invocation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</a:rPr>
              <a:t>•  Developed FastAPI REST API (api.py) with /chat and /health endpoints, CORS support</a:t>
            </a:r>
          </a:p>
          <a:p>
            <a:pPr algn="l"/>
            <a:r>
              <a:rPr sz="1600" b="1">
                <a:solidFill>
                  <a:srgbClr val="0060AA"/>
                </a:solidFill>
              </a:rPr>
              <a:t>Phase 3: Frontend Development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</a:rPr>
              <a:t>•  Built React 19 + Vite + Tailwind CSS web application with modular component architecture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</a:rPr>
              <a:t>•  Implemented chat interface with Framer Motion animations, Markdown rendering, and thinking loader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</a:rPr>
              <a:t>•  Added sidebar navigation with 8 topic categories, chat history, and session management</a:t>
            </a:r>
          </a:p>
          <a:p>
            <a:pPr algn="l"/>
            <a:r>
              <a:rPr sz="1600" b="1">
                <a:solidFill>
                  <a:srgbClr val="0060AA"/>
                </a:solidFill>
              </a:rPr>
              <a:t>Phase 4: Integration &amp; Testing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</a:rPr>
              <a:t>•  Connected frontend to backend API, verified end-to-end query-response flow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</a:rPr>
              <a:t>•  Tested with 12 official KR Mangalam University documents across multiple topics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</a:rPr>
              <a:t>•  Applied CORS security patch and fixed Markdown inline code rendering issues</a:t>
            </a:r>
          </a:p>
        </p:txBody>
      </p:sp>
    </p:spTree>
    <p:extLst>
      <p:ext uri="{BB962C8B-B14F-4D97-AF65-F5344CB8AC3E}">
        <p14:creationId xmlns:p14="http://schemas.microsoft.com/office/powerpoint/2010/main" val="1302546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47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5" y="29897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AE24D516-77C6-C96A-5F77-D099623448D8}"/>
              </a:ext>
            </a:extLst>
          </p:cNvPr>
          <p:cNvSpPr txBox="1"/>
          <p:nvPr/>
        </p:nvSpPr>
        <p:spPr>
          <a:xfrm>
            <a:off x="250000" y="1200000"/>
            <a:ext cx="87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00000"/>
                </a:solidFill>
              </a:rPr>
              <a:t>Retrieval-Augmented Generation (RAG)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</a:rPr>
              <a:t>Unlike pure generative AI, RAG grounds every answer in actual retrieved documents — reducing hallucination and ensuring factual accuracy.</a:t>
            </a:r>
          </a:p>
          <a:p>
            <a:pPr algn="l"/>
            <a:r>
              <a:rPr sz="600" b="0">
                <a:solidFill>
                  <a:srgbClr val="333333"/>
                </a:solidFill>
              </a:rPr>
              <a:t/>
            </a:r>
          </a:p>
          <a:p>
            <a:pPr algn="l"/>
            <a:r>
              <a:rPr sz="1600" b="1">
                <a:solidFill>
                  <a:srgbClr val="0060AA"/>
                </a:solidFill>
              </a:rPr>
              <a:t>Step-by-Step Pipeline: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</a:rPr>
              <a:t>1.  Document Loading — PDF, DOCX, TXT files loaded using LangChain document loaders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</a:rPr>
              <a:t>2.  Text Chunking — Split into 1000-char chunks with 200-char overlap (RecursiveCharacterTextSplitter)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</a:rPr>
              <a:t>3.  Embedding — Chunks encoded into 384-dimensional vectors using all-MiniLM-L6-v2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</a:rPr>
              <a:t>4.  Vector Storage — Embeddings stored in persistent local ChromaDB instance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</a:rPr>
              <a:t>5.  Query Preprocessing — Student slang expanded via 35+ regex patterns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</a:rPr>
              <a:t>6.  Retrieval — Top-3 semantically similar chunks retrieved from vector DB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</a:rPr>
              <a:t>7.  Prompt Construction — System prompt + chat history + context + user question assembled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</a:rPr>
              <a:t>8.  LLM Inference — Prompt sent to Ollama (LLaMA 3.2:3B) running locally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</a:rPr>
              <a:t>9.  Response — Answer with source citations returned to the user</a:t>
            </a:r>
          </a:p>
        </p:txBody>
      </p:sp>
    </p:spTree>
    <p:extLst>
      <p:ext uri="{BB962C8B-B14F-4D97-AF65-F5344CB8AC3E}">
        <p14:creationId xmlns:p14="http://schemas.microsoft.com/office/powerpoint/2010/main" val="1099878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7133" y="100424"/>
            <a:ext cx="828092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Prototype/Project Flow diagram/Architecture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AE24D516-77C6-C96A-5F77-D099623448D8}"/>
              </a:ext>
            </a:extLst>
          </p:cNvPr>
          <p:cNvSpPr txBox="1"/>
          <p:nvPr/>
        </p:nvSpPr>
        <p:spPr>
          <a:xfrm>
            <a:off x="250000" y="1200000"/>
            <a:ext cx="87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60AA"/>
                </a:solidFill>
              </a:rPr>
              <a:t>System Architecture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/>
            <a:r>
              <a:rPr sz="600" b="0">
                <a:solidFill>
                  <a:srgbClr val="333333"/>
                </a:solidFill>
              </a:rPr>
              <a:t/>
            </a:r>
          </a:p>
          <a:p>
            <a:pPr algn="l"/>
            <a:r>
              <a:rPr sz="1400" b="1">
                <a:solidFill>
                  <a:srgbClr val="003366"/>
                </a:solidFill>
              </a:rPr>
              <a:t>Frontend Layer (React 19 + Vite + Tailwind CSS)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444444"/>
                </a:solidFill>
              </a:rPr>
              <a:t>    •  Chat Interface with Markdown rendering and animations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444444"/>
                </a:solidFill>
              </a:rPr>
              <a:t>    •  Session management via localStorage (up to 20 sessions)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444444"/>
                </a:solidFill>
              </a:rPr>
              <a:t>    •  8 predefined topic categories + FAQ suggestion chips</a:t>
            </a:r>
          </a:p>
          <a:p>
            <a:pPr algn="l"/>
            <a:r>
              <a:rPr sz="600" b="0">
                <a:solidFill>
                  <a:srgbClr val="333333"/>
                </a:solidFill>
              </a:rPr>
              <a:t> 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444444"/>
                </a:solidFill>
              </a:rPr>
              <a:t>            ↓   HTTP POST /chat {message, history}</a:t>
            </a:r>
          </a:p>
          <a:p>
            <a:pPr algn="l"/>
            <a:r>
              <a:rPr sz="600" b="0">
                <a:solidFill>
                  <a:srgbClr val="333333"/>
                </a:solidFill>
              </a:rPr>
              <a:t> </a:t>
            </a:r>
          </a:p>
          <a:p>
            <a:pPr algn="l"/>
            <a:r>
              <a:rPr sz="1400" b="1">
                <a:solidFill>
                  <a:srgbClr val="003366"/>
                </a:solidFill>
              </a:rPr>
              <a:t>API Layer (FastAPI + Uvicorn — Port 8000)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444444"/>
                </a:solidFill>
              </a:rPr>
              <a:t>    •  POST /chat — accepts query, returns answer + sources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444444"/>
                </a:solidFill>
              </a:rPr>
              <a:t>    •  GET /health — system health check endpoint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444444"/>
                </a:solidFill>
              </a:rPr>
              <a:t>    •  CORS middleware for cross-origin requests</a:t>
            </a:r>
          </a:p>
          <a:p>
            <a:pPr algn="l"/>
            <a:r>
              <a:rPr sz="600" b="0">
                <a:solidFill>
                  <a:srgbClr val="333333"/>
                </a:solidFill>
              </a:rPr>
              <a:t> 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444444"/>
                </a:solidFill>
              </a:rPr>
              <a:t>            ↓   RAG Engine invocation</a:t>
            </a:r>
          </a:p>
          <a:p>
            <a:pPr algn="l"/>
            <a:r>
              <a:rPr sz="600" b="0">
                <a:solidFill>
                  <a:srgbClr val="333333"/>
                </a:solidFill>
              </a:rPr>
              <a:t> </a:t>
            </a:r>
          </a:p>
          <a:p>
            <a:pPr algn="l"/>
            <a:r>
              <a:rPr sz="1400" b="1">
                <a:solidFill>
                  <a:srgbClr val="003366"/>
                </a:solidFill>
              </a:rPr>
              <a:t>RAG Engine (LangChain LCEL Pipeline)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444444"/>
                </a:solidFill>
              </a:rPr>
              <a:t>    •  Slang expansion (35+ regex patterns)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444444"/>
                </a:solidFill>
              </a:rPr>
              <a:t>    •  Vector similarity search (top-3 retrieval)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444444"/>
                </a:solidFill>
              </a:rPr>
              <a:t>    •  Prompt construction with conversation history</a:t>
            </a:r>
          </a:p>
          <a:p>
            <a:pPr algn="l"/>
            <a:r>
              <a:rPr sz="600" b="0">
                <a:solidFill>
                  <a:srgbClr val="333333"/>
                </a:solidFill>
              </a:rPr>
              <a:t> </a:t>
            </a:r>
          </a:p>
          <a:p>
            <a:pPr algn="l"/>
            <a:r>
              <a:rPr sz="1400" b="1">
                <a:solidFill>
                  <a:srgbClr val="003366"/>
                </a:solidFill>
              </a:rPr>
              <a:t>   ChromaDB (Vector Store)         Ollama (LLM Server)</a:t>
            </a:r>
          </a:p>
          <a:p>
            <a:pPr algn="l"/>
            <a:r>
              <a:rPr sz="1400" b="1">
                <a:solidFill>
                  <a:srgbClr val="003366"/>
                </a:solidFill>
              </a:rPr>
              <a:t>   • Persistent local storage        • LLaMA 3.2:3B model</a:t>
            </a:r>
          </a:p>
          <a:p>
            <a:pPr algn="l"/>
            <a:r>
              <a:rPr sz="1400" b="1">
                <a:solidFill>
                  <a:srgbClr val="003366"/>
                </a:solidFill>
              </a:rPr>
              <a:t>   • 384-dim MiniLM embeddings      • Port 11434 (localhost)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xmlns="" id="{BB1AC4FE-9A4F-F464-CA8E-3B900C2974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xmlns="" id="{72AEF02E-64A6-6432-1444-81368AF7F7EA}"/>
                  </a:ext>
                </a:extLst>
              </p14:cNvPr>
              <p14:cNvContentPartPr/>
              <p14:nvPr/>
            </p14:nvContentPartPr>
            <p14:xfrm>
              <a:off x="6087360" y="2475240"/>
              <a:ext cx="646200" cy="3337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2AEF02E-64A6-6432-1444-81368AF7F7E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024360" y="2412240"/>
                <a:ext cx="771840" cy="459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933716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82CBE56-1D41-7167-8FFB-A09C6DDBB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xmlns="" id="{AFB3A7BE-7862-048E-951C-86CFD388A5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xmlns="" id="{BF1F4E46-D933-954B-D887-0C743D7A62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133" y="100424"/>
            <a:ext cx="828092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DF222086-A20A-7049-0744-A17C1E596D3B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3926CD72-25A6-86DC-34B2-F6A291749F3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D4D0BEBF-445B-BE7B-3FF6-A71A2B587371}"/>
              </a:ext>
            </a:extLst>
          </p:cNvPr>
          <p:cNvSpPr txBox="1"/>
          <p:nvPr/>
        </p:nvSpPr>
        <p:spPr>
          <a:xfrm>
            <a:off x="250000" y="1200000"/>
            <a:ext cx="87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C00000"/>
                </a:solidFill>
              </a:rPr>
              <a:t>Backend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</a:rPr>
              <a:t>•  Python 3.10+ — Core language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</a:rPr>
              <a:t>•  FastAPI + Uvicorn — REST API server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</a:rPr>
              <a:t>•  LangChain (LCEL) — RAG pipeline orchestration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</a:rPr>
              <a:t>•  Ollama — Local LLM server (LLaMA 3.2:3B, ~4GB RAM)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</a:rPr>
              <a:t>•  ChromaDB — Persistent vector database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</a:rPr>
              <a:t>•  sentence-transformers/all-MiniLM-L6-v2 — 384-dim embeddings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</a:rPr>
              <a:t>•  PyPDF + docx2txt — Document loaders</a:t>
            </a:r>
          </a:p>
          <a:p>
            <a:pPr algn="l"/>
            <a:r>
              <a:rPr sz="400" b="0">
                <a:solidFill>
                  <a:srgbClr val="333333"/>
                </a:solidFill>
              </a:rPr>
              <a:t/>
            </a:r>
          </a:p>
          <a:p>
            <a:pPr algn="l"/>
            <a:r>
              <a:rPr sz="1700" b="1">
                <a:solidFill>
                  <a:srgbClr val="C00000"/>
                </a:solidFill>
              </a:rPr>
              <a:t>Frontend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</a:rPr>
              <a:t>•  React 19 + Vite 7 — Modern SPA framework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</a:rPr>
              <a:t>•  Tailwind CSS v4 — Utility-first styling (dark theme)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</a:rPr>
              <a:t>•  Framer Motion — Smooth UI animations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</a:rPr>
              <a:t>•  react-markdown + remark-gfm — Markdown rendering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</a:rPr>
              <a:t>•  Lucide React — Icon library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</a:rPr>
              <a:t>•  localStorage — Session persistence</a:t>
            </a:r>
          </a:p>
          <a:p>
            <a:pPr algn="l"/>
            <a:r>
              <a:rPr sz="400" b="0">
                <a:solidFill>
                  <a:srgbClr val="333333"/>
                </a:solidFill>
              </a:rPr>
              <a:t/>
            </a:r>
          </a:p>
          <a:p>
            <a:pPr algn="l"/>
            <a:r>
              <a:rPr sz="1700" b="1">
                <a:solidFill>
                  <a:srgbClr val="C00000"/>
                </a:solidFill>
              </a:rPr>
              <a:t>DevOps &amp; Tooling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</a:rPr>
              <a:t>•  Bash (start.sh) — One-click deployment script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</a:rPr>
              <a:t>•  Streamlit — Backup/fallback UI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</a:rPr>
              <a:t>•  Git — Version control</a:t>
            </a:r>
          </a:p>
          <a:p>
            <a:pPr algn="l"/>
            <a:r>
              <a:rPr sz="400" b="0">
                <a:solidFill>
                  <a:srgbClr val="333333"/>
                </a:solidFill>
              </a:rPr>
              <a:t/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xmlns="" id="{FC27A688-8646-DB1F-FAA1-AE2FA98442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6430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DBD42DB-FF71-D8E6-630F-399C60C53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xmlns="" id="{52FB631E-E469-C80D-C58A-99E545F378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xmlns="" id="{3B6D9598-AD90-B9CA-8610-998CE22F1C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Timeline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1362D34C-9176-DD2A-8AAF-507BD46BD710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4066F8A4-300F-9AE0-4A5E-2A2D19A8A54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C166FAC4-E627-209B-D9A4-20EC84D69C44}"/>
              </a:ext>
            </a:extLst>
          </p:cNvPr>
          <p:cNvSpPr txBox="1"/>
          <p:nvPr/>
        </p:nvSpPr>
        <p:spPr>
          <a:xfrm>
            <a:off x="250000" y="1200000"/>
            <a:ext cx="87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60AA"/>
                </a:solidFill>
              </a:rPr>
              <a:t>Weeks 1–2: Research &amp; Planning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</a:rPr>
              <a:t>•  Literature review on RAG architectures and local LLM deployment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</a:rPr>
              <a:t>•  Evaluated models (GPT, Gemini, LLaMA), vector DBs (Pinecone, Weaviate, ChromaDB)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</a:rPr>
              <a:t>•  Finalized tech stack and system architecture design</a:t>
            </a:r>
          </a:p>
          <a:p>
            <a:pPr algn="l"/>
            <a:r>
              <a:rPr sz="300" b="0">
                <a:solidFill>
                  <a:srgbClr val="333333"/>
                </a:solidFill>
              </a:rPr>
              <a:t/>
            </a:r>
          </a:p>
          <a:p>
            <a:pPr algn="l"/>
            <a:r>
              <a:rPr sz="1500" b="1">
                <a:solidFill>
                  <a:srgbClr val="0060AA"/>
                </a:solidFill>
              </a:rPr>
              <a:t>Weeks 3–4: Data Collection &amp; Ingestion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</a:rPr>
              <a:t>•  Gathered 12 official KR Mangalam University documents (policies, fees, admissions, etc.)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</a:rPr>
              <a:t>•  Built document ingestion pipeline with multi-format support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</a:rPr>
              <a:t>•  Configured ChromaDB with persistent storage and MiniLM embeddings</a:t>
            </a:r>
          </a:p>
          <a:p>
            <a:pPr algn="l"/>
            <a:r>
              <a:rPr sz="300" b="0">
                <a:solidFill>
                  <a:srgbClr val="333333"/>
                </a:solidFill>
              </a:rPr>
              <a:t/>
            </a:r>
          </a:p>
          <a:p>
            <a:pPr algn="l"/>
            <a:r>
              <a:rPr sz="1500" b="1">
                <a:solidFill>
                  <a:srgbClr val="0060AA"/>
                </a:solidFill>
              </a:rPr>
              <a:t>Weeks 5–7: Backend Development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</a:rPr>
              <a:t>•  Developed RAG engine with LangChain LCEL chain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</a:rPr>
              <a:t>•  Built slang preprocessing module (35+ regex patterns)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</a:rPr>
              <a:t>•  Created FastAPI REST API with /chat and /health endpoints</a:t>
            </a:r>
          </a:p>
          <a:p>
            <a:pPr algn="l"/>
            <a:r>
              <a:rPr sz="300" b="0">
                <a:solidFill>
                  <a:srgbClr val="333333"/>
                </a:solidFill>
              </a:rPr>
              <a:t/>
            </a:r>
          </a:p>
          <a:p>
            <a:pPr algn="l"/>
            <a:r>
              <a:rPr sz="1500" b="1">
                <a:solidFill>
                  <a:srgbClr val="0060AA"/>
                </a:solidFill>
              </a:rPr>
              <a:t>Weeks 8–10: Frontend Development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</a:rPr>
              <a:t>•  Designed and built React 19 web app with dark theme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</a:rPr>
              <a:t>•  Implemented chat interface, sidebar, session management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</a:rPr>
              <a:t>•  Added animations, Markdown rendering, and source citations</a:t>
            </a:r>
          </a:p>
          <a:p>
            <a:pPr algn="l"/>
            <a:r>
              <a:rPr sz="300" b="0">
                <a:solidFill>
                  <a:srgbClr val="333333"/>
                </a:solidFill>
              </a:rPr>
              <a:t/>
            </a:r>
          </a:p>
          <a:p>
            <a:pPr algn="l"/>
            <a:r>
              <a:rPr sz="1500" b="1">
                <a:solidFill>
                  <a:srgbClr val="0060AA"/>
                </a:solidFill>
              </a:rPr>
              <a:t>Weeks 11–12: Integration &amp; Testing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</a:rPr>
              <a:t>•  End-to-end integration testing with real university documents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</a:rPr>
              <a:t>•  Bug fixes (CORS security, Markdown rendering)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</a:rPr>
              <a:t>•  Performance optimization and documentation</a:t>
            </a:r>
          </a:p>
          <a:p>
            <a:pPr algn="l"/>
            <a:r>
              <a:rPr sz="300" b="0">
                <a:solidFill>
                  <a:srgbClr val="333333"/>
                </a:solidFill>
              </a:rPr>
              <a:t/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xmlns="" id="{D3A55479-5820-9331-B8CC-0F9A13C7AC18}"/>
                  </a:ext>
                </a:extLst>
              </p14:cNvPr>
              <p14:cNvContentPartPr/>
              <p14:nvPr/>
            </p14:nvContentPartPr>
            <p14:xfrm>
              <a:off x="7203160" y="2489200"/>
              <a:ext cx="484560" cy="349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3A55479-5820-9331-B8CC-0F9A13C7AC1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40520" y="2426200"/>
                <a:ext cx="610200" cy="160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49508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BBCDCA2-809E-6D83-D42D-750510F89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xmlns="" id="{B1972655-A0FD-7923-EAE6-F8504228D9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xmlns="" id="{B586354D-B57C-4AB5-50E5-D5E6E2A516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Next Steps and Goals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9AA045F8-58D6-32DE-1A78-7BF61B468745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92C63B0B-38AB-BDC6-BC45-A8B7244E286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7305AE5B-E43E-CFC9-59E3-0853A368E8B8}"/>
              </a:ext>
            </a:extLst>
          </p:cNvPr>
          <p:cNvSpPr txBox="1"/>
          <p:nvPr/>
        </p:nvSpPr>
        <p:spPr>
          <a:xfrm>
            <a:off x="250000" y="1200000"/>
            <a:ext cx="87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00000"/>
                </a:solidFill>
              </a:rPr>
              <a:t>Immediate Next Steps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</a:rPr>
              <a:t>•  Add user authentication and role-based access (students, faculty, admin)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</a:rPr>
              <a:t>•  Implement feedback loop — use thumbs up/down data to improve retrieval quality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</a:rPr>
              <a:t>•  Expand knowledge base with more university documents and FAQs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</a:rPr>
              <a:t>•  Add file upload feature for admin to ingest new documents via the UI</a:t>
            </a:r>
          </a:p>
          <a:p>
            <a:pPr algn="l"/>
            <a:r>
              <a:rPr sz="800" b="0">
                <a:solidFill>
                  <a:srgbClr val="333333"/>
                </a:solidFill>
              </a:rPr>
              <a:t/>
            </a:r>
          </a:p>
          <a:p>
            <a:pPr algn="l"/>
            <a:r>
              <a:rPr sz="1800" b="1">
                <a:solidFill>
                  <a:srgbClr val="C00000"/>
                </a:solidFill>
              </a:rPr>
              <a:t>Medium-Term Goals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</a:rPr>
              <a:t>•  Deploy the system on university servers for campus-wide access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</a:rPr>
              <a:t>•  Add voice input support for accessibility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</a:rPr>
              <a:t>•  Implement analytics dashboard to track common student queries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</a:rPr>
              <a:t>•  Enable GPU acceleration for faster LLM inference (~5x speedup)</a:t>
            </a:r>
          </a:p>
          <a:p>
            <a:pPr algn="l"/>
            <a:r>
              <a:rPr sz="800" b="0">
                <a:solidFill>
                  <a:srgbClr val="333333"/>
                </a:solidFill>
              </a:rPr>
              <a:t/>
            </a:r>
          </a:p>
          <a:p>
            <a:pPr algn="l"/>
            <a:r>
              <a:rPr sz="1800" b="1">
                <a:solidFill>
                  <a:srgbClr val="C00000"/>
                </a:solidFill>
              </a:rPr>
              <a:t>Long-Term Vision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</a:rPr>
              <a:t>•  Scale to a multi-university platform adaptable to any institution's documents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</a:rPr>
              <a:t>•  Integrate with university ERP systems for real-time data (attendance, grades, fees)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xmlns="" id="{871A80A2-EA03-6476-D9C3-239857EC94CB}"/>
                  </a:ext>
                </a:extLst>
              </p14:cNvPr>
              <p14:cNvContentPartPr/>
              <p14:nvPr/>
            </p14:nvContentPartPr>
            <p14:xfrm>
              <a:off x="7203160" y="2489200"/>
              <a:ext cx="484560" cy="349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71A80A2-EA03-6476-D9C3-239857EC94C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140160" y="2426200"/>
                <a:ext cx="610200" cy="160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665083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5" y="29897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&amp; Resources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AE24D516-77C6-C96A-5F77-D099623448D8}"/>
              </a:ext>
            </a:extLst>
          </p:cNvPr>
          <p:cNvSpPr txBox="1"/>
          <p:nvPr/>
        </p:nvSpPr>
        <p:spPr>
          <a:xfrm>
            <a:off x="250000" y="1200000"/>
            <a:ext cx="87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60AA"/>
                </a:solidFill>
              </a:rPr>
              <a:t>Knowledge Base Documents (12 files)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</a:rPr>
              <a:t>•  Academic Calendar — Semester dates, exam schedules, holidays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</a:rPr>
              <a:t>•  Admissions — Eligibility criteria, application process, required documents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</a:rPr>
              <a:t>•  Anti-Ragging Policy — UGC regulations, complaint procedures, penalties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</a:rPr>
              <a:t>•  Campus Facilities — Labs, library, sports, transportation, medical center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</a:rPr>
              <a:t>•  Clubs &amp; Societies — Cultural, technical, and professional student organizations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</a:rPr>
              <a:t>•  Code of Conduct — Attendance rules, disciplinary procedures, dress code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</a:rPr>
              <a:t>•  Fee Structure — Tuition, hostel, and miscellaneous fee breakdown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</a:rPr>
              <a:t>•  Hostel Information — Room types, amenities, rules, fee details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</a:rPr>
              <a:t>•  Placements — Placement stats, recruiter list, preparation programs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</a:rPr>
              <a:t>•  Scholarships — Merit-based, need-based, and government scholarship schemes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</a:rPr>
              <a:t>•  SOET Overview — School of Engineering programs, labs, faculty, achievements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</a:rPr>
              <a:t>•  Student Welfare — Counseling, grievance redressal, health services</a:t>
            </a:r>
          </a:p>
          <a:p>
            <a:pPr algn="l"/>
            <a:r>
              <a:rPr sz="600" b="0">
                <a:solidFill>
                  <a:srgbClr val="333333"/>
                </a:solidFill>
              </a:rPr>
              <a:t/>
            </a:r>
          </a:p>
          <a:p>
            <a:pPr algn="l"/>
            <a:r>
              <a:rPr sz="1700" b="1">
                <a:solidFill>
                  <a:srgbClr val="0060AA"/>
                </a:solidFill>
              </a:rPr>
              <a:t>Key Models &amp; Libraries Used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</a:rPr>
              <a:t>•  LLaMA 3.2:3B (Meta) — 3 billion parameter LLM for text generation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</a:rPr>
              <a:t>•  all-MiniLM-L6-v2 (Microsoft) — Sentence embedding model (~80MB)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</a:rPr>
              <a:t>•  LangChain — Open-source RAG framework for Python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</a:rPr>
              <a:t>•  ChromaDB — Open-source embedding database</a:t>
            </a:r>
          </a:p>
        </p:txBody>
      </p:sp>
    </p:spTree>
    <p:extLst>
      <p:ext uri="{BB962C8B-B14F-4D97-AF65-F5344CB8AC3E}">
        <p14:creationId xmlns:p14="http://schemas.microsoft.com/office/powerpoint/2010/main" val="34490688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4976" y="-13692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611738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lang="en-US" sz="3200" b="1" kern="100" dirty="0" err="1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Usecases</a:t>
            </a: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&amp; Scope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AE24D516-77C6-C96A-5F77-D099623448D8}"/>
              </a:ext>
            </a:extLst>
          </p:cNvPr>
          <p:cNvSpPr txBox="1"/>
          <p:nvPr/>
        </p:nvSpPr>
        <p:spPr>
          <a:xfrm>
            <a:off x="250000" y="1200000"/>
            <a:ext cx="87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00000"/>
                </a:solidFill>
              </a:rPr>
              <a:t>Primary Use Cases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1">
                <a:solidFill>
                  <a:srgbClr val="0060AA"/>
                </a:solidFill>
              </a:rPr>
              <a:t>Admission Queries</a:t>
            </a:r>
          </a:p>
          <a:p>
            <a:pPr algn="l" lvl="1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666666"/>
                </a:solidFill>
              </a:rPr>
              <a:t>"What is the eligibility for B.Tech CSE?" "What documents do I need for admission?"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1">
                <a:solidFill>
                  <a:srgbClr val="0060AA"/>
                </a:solidFill>
              </a:rPr>
              <a:t>Fee &amp; Scholarship Info</a:t>
            </a:r>
          </a:p>
          <a:p>
            <a:pPr algn="l" lvl="1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666666"/>
                </a:solidFill>
              </a:rPr>
              <a:t>"What is the fee for MBA?" "How do I apply for a merit scholarship?"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1">
                <a:solidFill>
                  <a:srgbClr val="0060AA"/>
                </a:solidFill>
              </a:rPr>
              <a:t>Academic Policies</a:t>
            </a:r>
          </a:p>
          <a:p>
            <a:pPr algn="l" lvl="1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666666"/>
                </a:solidFill>
              </a:rPr>
              <a:t>"What is the attendance policy?" "How is CGPA calculated?"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1">
                <a:solidFill>
                  <a:srgbClr val="0060AA"/>
                </a:solidFill>
              </a:rPr>
              <a:t>Hostel &amp; Campus Life</a:t>
            </a:r>
          </a:p>
          <a:p>
            <a:pPr algn="l" lvl="1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666666"/>
                </a:solidFill>
              </a:rPr>
              <a:t>"What are the hostel facilities?" "Which clubs can I join?"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1">
                <a:solidFill>
                  <a:srgbClr val="0060AA"/>
                </a:solidFill>
              </a:rPr>
              <a:t>Placement Support</a:t>
            </a:r>
          </a:p>
          <a:p>
            <a:pPr algn="l" lvl="1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666666"/>
                </a:solidFill>
              </a:rPr>
              <a:t>"What companies visited last year?" "What is the average placement package?"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1">
                <a:solidFill>
                  <a:srgbClr val="0060AA"/>
                </a:solidFill>
              </a:rPr>
              <a:t>Anti-Ragging &amp; Welfare</a:t>
            </a:r>
          </a:p>
          <a:p>
            <a:pPr algn="l" lvl="1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666666"/>
                </a:solidFill>
              </a:rPr>
              <a:t>"How do I report ragging?" "Where is the counseling center?"</a:t>
            </a:r>
          </a:p>
          <a:p>
            <a:pPr algn="l"/>
            <a:r>
              <a:rPr sz="600" b="0">
                <a:solidFill>
                  <a:srgbClr val="333333"/>
                </a:solidFill>
              </a:rPr>
              <a:t/>
            </a:r>
          </a:p>
          <a:p>
            <a:pPr algn="l"/>
            <a:r>
              <a:rPr sz="1800" b="1">
                <a:solidFill>
                  <a:srgbClr val="C00000"/>
                </a:solidFill>
              </a:rPr>
              <a:t>Scope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</a:rPr>
              <a:t>Currently scoped to KR Mangalam University — architecture is modular and can be adapted to any institution by swapping the document knowledge base.</a:t>
            </a:r>
          </a:p>
        </p:txBody>
      </p:sp>
    </p:spTree>
    <p:extLst>
      <p:ext uri="{BB962C8B-B14F-4D97-AF65-F5344CB8AC3E}">
        <p14:creationId xmlns:p14="http://schemas.microsoft.com/office/powerpoint/2010/main" val="32958122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Expected Results &amp; Impact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AE24D516-77C6-C96A-5F77-D099623448D8}"/>
              </a:ext>
            </a:extLst>
          </p:cNvPr>
          <p:cNvSpPr txBox="1"/>
          <p:nvPr/>
        </p:nvSpPr>
        <p:spPr>
          <a:xfrm>
            <a:off x="250000" y="1200000"/>
            <a:ext cx="87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60AA"/>
                </a:solidFill>
              </a:rPr>
              <a:t>Expected Results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226622"/>
                </a:solidFill>
              </a:rPr>
              <a:t>✓  Accurate, citation-backed answers to 90%+ of common student queries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226622"/>
                </a:solidFill>
              </a:rPr>
              <a:t>✓  Sub-15-second response times on CPU (sub-3-second with GPU acceleration)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226622"/>
                </a:solidFill>
              </a:rPr>
              <a:t>✓  Zero data leakage — fully offline operation with no external API calls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226622"/>
                </a:solidFill>
              </a:rPr>
              <a:t>✓  Seamless handling of informal language (slang, abbreviations, Hinglish)</a:t>
            </a:r>
          </a:p>
          <a:p>
            <a:pPr algn="l"/>
            <a:r>
              <a:rPr sz="800" b="0">
                <a:solidFill>
                  <a:srgbClr val="333333"/>
                </a:solidFill>
              </a:rPr>
              <a:t/>
            </a:r>
          </a:p>
          <a:p>
            <a:pPr algn="l"/>
            <a:r>
              <a:rPr sz="1800" b="1">
                <a:solidFill>
                  <a:srgbClr val="0060AA"/>
                </a:solidFill>
              </a:rPr>
              <a:t>Impact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1">
                <a:solidFill>
                  <a:srgbClr val="003366"/>
                </a:solidFill>
              </a:rPr>
              <a:t>For Students</a:t>
            </a:r>
          </a:p>
          <a:p>
            <a:pPr algn="l" lvl="1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444444"/>
                </a:solidFill>
              </a:rPr>
              <a:t>Instant, reliable access to university information 24/7 — no more searching through scattered PDFs or asking unreliable sources.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1">
                <a:solidFill>
                  <a:srgbClr val="003366"/>
                </a:solidFill>
              </a:rPr>
              <a:t>For Administration</a:t>
            </a:r>
          </a:p>
          <a:p>
            <a:pPr algn="l" lvl="1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444444"/>
                </a:solidFill>
              </a:rPr>
              <a:t>Reduced volume of repetitive queries at help desks and admissions offices, freeing staff for higher-value tasks.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1">
                <a:solidFill>
                  <a:srgbClr val="003366"/>
                </a:solidFill>
              </a:rPr>
              <a:t>For the University</a:t>
            </a:r>
          </a:p>
          <a:p>
            <a:pPr algn="l" lvl="1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444444"/>
                </a:solidFill>
              </a:rPr>
              <a:t>Demonstrates innovation in AI-driven student services, positioning KRMU as a tech-forward institution.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1">
                <a:solidFill>
                  <a:srgbClr val="003366"/>
                </a:solidFill>
              </a:rPr>
              <a:t>For Privacy</a:t>
            </a:r>
          </a:p>
          <a:p>
            <a:pPr algn="l" lvl="1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444444"/>
                </a:solidFill>
              </a:rPr>
              <a:t>A working proof-of-concept that useful AI assistants can run entirely on-premises without sending data to cloud providers.</a:t>
            </a:r>
          </a:p>
        </p:txBody>
      </p:sp>
    </p:spTree>
    <p:extLst>
      <p:ext uri="{BB962C8B-B14F-4D97-AF65-F5344CB8AC3E}">
        <p14:creationId xmlns:p14="http://schemas.microsoft.com/office/powerpoint/2010/main" val="2562604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80512" cy="685800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35696" y="2708920"/>
            <a:ext cx="56510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dirty="0">
                <a:solidFill>
                  <a:srgbClr val="0060AA"/>
                </a:solidFill>
                <a:latin typeface="Garamond" pitchFamily="18" charset="0"/>
              </a:rPr>
              <a:t>THANK</a:t>
            </a:r>
            <a:r>
              <a:rPr lang="en-US" sz="7200" dirty="0">
                <a:latin typeface="Garamond" pitchFamily="18" charset="0"/>
              </a:rPr>
              <a:t> </a:t>
            </a:r>
            <a:r>
              <a:rPr lang="en-US" sz="7200" dirty="0">
                <a:solidFill>
                  <a:srgbClr val="E31E24"/>
                </a:solidFill>
                <a:latin typeface="Garamond" pitchFamily="18" charset="0"/>
              </a:rPr>
              <a:t>YOU</a:t>
            </a:r>
            <a:endParaRPr lang="en-IN" sz="7200" dirty="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198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6257</TotalTime>
  <Words>154</Words>
  <Application>Microsoft Office PowerPoint</Application>
  <PresentationFormat>On-screen Show (4:3)</PresentationFormat>
  <Paragraphs>60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Cambria</vt:lpstr>
      <vt:lpstr>Garamond</vt:lpstr>
      <vt:lpstr>Times New Roman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WEBDEV</dc:creator>
  <cp:lastModifiedBy>Microsoft account</cp:lastModifiedBy>
  <cp:revision>311</cp:revision>
  <cp:lastPrinted>2022-09-05T08:43:44Z</cp:lastPrinted>
  <dcterms:created xsi:type="dcterms:W3CDTF">2020-01-16T09:05:56Z</dcterms:created>
  <dcterms:modified xsi:type="dcterms:W3CDTF">2026-03-06T07:21:46Z</dcterms:modified>
</cp:coreProperties>
</file>